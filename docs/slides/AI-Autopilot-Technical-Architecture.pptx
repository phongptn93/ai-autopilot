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AI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718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CBD5E1"/>
                </a:solidFill>
                <a:latin typeface="Segoe UI"/>
              </a:rPr>
              <a:t>Kiến trúc kỹ thuật — Control plane quanh một AI agent tự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B8A6"/>
                </a:solidFill>
                <a:latin typeface="Segoe UI"/>
              </a:rPr>
              <a:t>Python điều phối  ·  Claude làm kỹ thuật  ·  đồng bộ trạng thái Azure DevOps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v2.0  ·  2026-07-03  ·  Claude Agent SDK + Claude Code (Remote Control)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Vấn đề  → 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120640" cy="35661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Segoe UI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Xử lý work item ADO tốn nhiều thao tác lặp của dev</a:t>
            </a:r>
          </a:p>
          <a:p>
            <a:pPr lvl="1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–  implement bug/feature → branch → PR → cập nhật state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Trạng thái phải theo suốt vòng đời: merge → deploy → testing</a:t>
            </a:r>
          </a:p>
          <a:p>
            <a:pPr lvl="1"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–  Dev phải xem ADO / kéo tay từng bước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212080" cy="356616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A34A"/>
                </a:solidFill>
                <a:latin typeface="Segoe UI"/>
              </a:rPr>
              <a:t>GIẢI PHÁP — control plane quanh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Python sở hữu: scheduling · cô lập · idempotency · state · báo cáo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Claude sở hữu: lập luận kỹ thuật + chỉnh sửa file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Poll board → giao Claude (branch→code→PR) → auto-review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1E293B"/>
                </a:solidFill>
                <a:latin typeface="Segoe UI"/>
              </a:rPr>
              <a:t>•  Ghi state + tag + comment lên ADO &amp; chat; đồng bộ tiếp sau merge/deploy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Bức tranh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4688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ADO Board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work item + tag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315468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2743200"/>
            <a:ext cx="2743200" cy="109728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AI Autopilot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4 background loops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75120" y="315468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743200"/>
            <a:ext cx="2194560" cy="10972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Claude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SDK / Remote Control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92640" y="3154680"/>
            <a:ext cx="64008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24160" y="2743200"/>
            <a:ext cx="1371600" cy="109728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Git / PR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4297680"/>
            <a:ext cx="5669280" cy="256032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5262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4B8A6"/>
                </a:solidFill>
                <a:latin typeface="Segoe UI"/>
              </a:rPr>
              <a:t>report back: state + tag + comment  →  ADO · Teams · Zalo ·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Python là control plane; Claude là engine kỹ thuật. Mọi mutate state đi qua 1 điểm (outcome_policy).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Mô hình tiến trình: 4 background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app.py (FastAPI lifespan) dựng Container (composition root) → chạy 4 loop async trên 1 event loop; concurrency = semaphore max_concurrent.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25880" y="2148840"/>
          <a:ext cx="96926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838"/>
                <a:gridCol w="2400082"/>
                <a:gridCol w="1200041"/>
                <a:gridCol w="4061677"/>
              </a:tblGrid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Chu kỳ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Trách nhiệm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AdoPollerService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services/poller.py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30s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Trái tim — poll board, dispatch, finalize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StateSyncService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services/state_sync.py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90s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merge→state, deploy→state, parent roll-up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PrMonitorService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services/pr_monitor.py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Theo dõi PR autopilot đang mở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LoopScheduler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services/loop_scheduler.py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cron/interval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Chạy skill theo lịch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25880" y="4800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4748B"/>
                </a:solidFill>
                <a:latin typeface="Segoe UI"/>
              </a:rPr>
              <a:t>Endpoint (:5080): /health · /metrics · /api/webhook/ado · 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Vòng poll: 4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97480" cy="3931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6366F1"/>
                </a:solidFill>
                <a:latin typeface="Segoe UI"/>
              </a:rPr>
              <a:t>1 ·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E293B"/>
                </a:solidFill>
                <a:latin typeface="Segoe UI"/>
              </a:rPr>
              <a:t>ADO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(tag+state)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Webhook drain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Reconcile reopened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82112" y="3383280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600200"/>
            <a:ext cx="2697480" cy="39319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737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59E0B"/>
                </a:solidFill>
                <a:latin typeface="Segoe UI"/>
              </a:rPr>
              <a:t>2 ·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33172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E293B"/>
                </a:solidFill>
                <a:latin typeface="Segoe UI"/>
              </a:rPr>
              <a:t>WIQL 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10896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Filter skip-tags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88620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(live/processed…)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466344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Classify+prioritise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35624" y="3383280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9944" y="1600200"/>
            <a:ext cx="2697480" cy="39319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737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6A34A"/>
                </a:solidFill>
                <a:latin typeface="Segoe UI"/>
              </a:rPr>
              <a:t>3 ·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33172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E293B"/>
                </a:solidFill>
                <a:latin typeface="Segoe UI"/>
              </a:rPr>
              <a:t>Scratch worktree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10896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.aiwt/agent-&lt;id&gt;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88620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Claude: SDK|RC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66344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result.json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89136" y="3383280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63456" y="1600200"/>
            <a:ext cx="2697480" cy="39319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6" y="1737360"/>
            <a:ext cx="2697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7C3AED"/>
                </a:solidFill>
                <a:latin typeface="Segoe UI"/>
              </a:rPr>
              <a:t>4 ·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233172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E293B"/>
                </a:solidFill>
                <a:latin typeface="Segoe UI"/>
              </a:rPr>
              <a:t>outcome_policy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6" y="310896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→ (tag, state)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6" y="388620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ADO state+comment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0616" y="4663440"/>
            <a:ext cx="2423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Teams·Zalo·Email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Segoe UI"/>
              </a:rPr>
              <a:t>Đầu mỗi chu kỳ: finalize interactive session đã ghi result.json (kể cả session mồ côi sau restart).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Hai chế độ thực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25880" y="1828800"/>
          <a:ext cx="96926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137"/>
                <a:gridCol w="3929448"/>
                <a:gridCol w="4366054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Headless (mặc định)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Interactive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Cơ chế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Claude Agent SDK stream từ scratch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Phiên Claude Code Remote-Control (console riêng)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Điều khiển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Tự động, không người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Người attach qua claude.ai để lái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Finalize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Ngay trong run_agent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Poller nhặt khi result.json xuất hiện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Chống trùng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Gắn tag autopilot-live → restart không mở console 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25880" y="4846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4748B"/>
                </a:solidFill>
                <a:latin typeface="Segoe UI"/>
              </a:rPr>
              <a:t>Cả hai hội tụ về cùng contract result.json và cùng cách xử lý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Cô lập theo task — worktree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E293B"/>
                </a:solidFill>
                <a:latin typeface="Segoe UI"/>
              </a:rPr>
              <a:t>•  Base dir: &lt;workspace&gt;/.aiwt — dotfolder trong workspace (discover_repos bỏ qua)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•  agent-&lt;id&gt;/ = copy .claude + git worktree của từng repo được phép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•  Base branch theo TỪNG repo (_resolve_base_ref): origin/&lt;base&gt; → origin/HEAD → main/develop…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64748B"/>
                </a:solidFill>
                <a:latin typeface="Segoe UI"/>
              </a:rPr>
              <a:t>–  repo không có base khả dụng → bỏ qua, không hủy cả scratch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•  Interactive dùng path cố định agent-&lt;id&gt; → finalize được sau restart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•  fetch --no-recurse-submodules (repo vendor submodule .claude private)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•  Teardown best-effort: worktree remove --force + prune + rmtree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Outcome policy — điểm mutate DUY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Mọi thay đổi tag/state theo 1 outcome đi qua outcome_policy(cfg, outcome) → (tag, state). Rỗng hoặc dry_run → bỏ qua. Best-effort.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25880" y="2148840"/>
          <a:ext cx="8778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92087"/>
                <a:gridCol w="339159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Tag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</a:rPr>
                        <a:t>State (config key)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in_progress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state_in_progress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review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review_tag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state_in_review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processed_tag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resolved_state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processed_tag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state_report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needs_human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escalation_tag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state_needs_human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failed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failed_tag / processed_tag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1E293B"/>
                          </a:solidFill>
                          <a:latin typeface="Segoe UI"/>
                        </a:rPr>
                        <a:t>state_failed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Auto state transitions + cross-project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0574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Trigger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New/Active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96312" y="2350008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600200"/>
            <a:ext cx="7132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965960"/>
            <a:ext cx="2057400" cy="1051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In Review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draft PR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9744" y="2350008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7132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merge 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965960"/>
            <a:ext cx="2057400" cy="105156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Ready to Deploy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on_merge_state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23176" y="2350008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4" y="1600200"/>
            <a:ext cx="7132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deploy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965960"/>
            <a:ext cx="2057400" cy="105156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Ready to Testing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on_deploy_state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36608" y="2350008"/>
            <a:ext cx="292608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1600200"/>
            <a:ext cx="713232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derive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10928" y="1965960"/>
            <a:ext cx="2057400" cy="105156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Parent roll-up</a:t>
            </a:r>
          </a:p>
          <a:p>
            <a:pPr algn="ctr"/>
            <a:r>
              <a:rPr sz="1050" b="0" i="0">
                <a:solidFill>
                  <a:srgbClr val="64748B"/>
                </a:solidFill>
                <a:latin typeface="Segoe UI"/>
              </a:rPr>
              <a:t>child→parent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49039"/>
            <a:ext cx="10881360" cy="173736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10424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59E0B"/>
                </a:solidFill>
                <a:latin typeface="Segoe UI"/>
              </a:rPr>
              <a:t>⚠ Cross-project scoping (quan trọng)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Work item ở ado_project (vd TLCL-DxFac); code/PR/build ở code_project (vd DxFactory)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code_project định tuyến mọi lời gọi git/PR/build (_git_url); work item ở _url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 i="0">
                <a:solidFill>
                  <a:srgbClr val="EF4444"/>
                </a:solidFill>
                <a:latin typeface="Segoe UI"/>
              </a:rPr>
              <a:t>•  Thiếu nó → merge/deploy detection query nhầm project → KHÔNG BAO GIỜ kích hoạt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Dữ liệu &amp; idempotency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 i="0">
                <a:solidFill>
                  <a:srgbClr val="1E293B"/>
                </a:solidFill>
                <a:latin typeface="Segoe UI"/>
              </a:rPr>
              <a:t>•  Persistence: SQLAlchemy async + aiosqlite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–  StateRepository (PipelineState/item) · ExecutionRepository (bản ghi + cost + recovery)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 i="0">
                <a:solidFill>
                  <a:srgbClr val="1E293B"/>
                </a:solidFill>
                <a:latin typeface="Segoe UI"/>
              </a:rPr>
              <a:t>•  Chống xử lý trùng — nhiều lớp: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–  ADO skip tags (processed/review/escalation/live) → loại khỏi query pending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–  In-memory _processed (TTL 1h) → tránh nhặt lại cùng chu kỳ</a:t>
            </a:r>
          </a:p>
          <a:p>
            <a:pPr lvl="1">
              <a:lnSpc>
                <a:spcPct val="112000"/>
              </a:lnSpc>
              <a:spcAft>
                <a:spcPts val="9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–  Startup: requeue_in_progress + fail_running + prune_orphans (phục hồi sau crash)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 i="0">
                <a:solidFill>
                  <a:srgbClr val="EF4444"/>
                </a:solidFill>
                <a:latin typeface="Segoe UI"/>
              </a:rPr>
              <a:t>•  Gap: _live (session interactive) còn in-memory — chưa 100% xuống 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Autonomy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37160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 i="0">
                <a:solidFill>
                  <a:srgbClr val="1E293B"/>
                </a:solidFill>
                <a:latin typeface="Segoe UI"/>
              </a:rPr>
              <a:t>L1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74519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E293B"/>
                </a:solidFill>
                <a:latin typeface="Segoe UI"/>
              </a:rPr>
              <a:t>Chỉ classify + comment 'sẽ làm gì' — không đụng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1371600" cy="109728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 i="0">
                <a:solidFill>
                  <a:srgbClr val="1E293B"/>
                </a:solidFill>
                <a:latin typeface="Segoe UI"/>
              </a:rPr>
              <a:t>L2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assisted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24612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E293B"/>
                </a:solidFill>
                <a:latin typeface="Segoe UI"/>
              </a:rPr>
              <a:t>Thực thi + mở draft PR cho người review (mặc định)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1371600" cy="1097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 i="0">
                <a:solidFill>
                  <a:srgbClr val="1E293B"/>
                </a:solidFill>
                <a:latin typeface="Segoe UI"/>
              </a:rPr>
              <a:t>L3</a:t>
            </a:r>
          </a:p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unattended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617720"/>
            <a:ext cx="886968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E293B"/>
                </a:solidFill>
                <a:latin typeface="Segoe UI"/>
              </a:rPr>
              <a:t>Thực thi + mở PR thường, tự resolve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64748B"/>
                </a:solidFill>
                <a:latin typeface="Segoe UI"/>
              </a:rPr>
              <a:t>Autonomy quyết định run hoàn tất → review (L2, draft PR) hay done (L3).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Observability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E293B"/>
                </a:solidFill>
                <a:latin typeface="Segoe UI"/>
              </a:rPr>
              <a:t>•  Logging: structlog (JSON) → logs/autopilot.log</a:t>
            </a:r>
          </a:p>
          <a:p>
            <a:pPr lvl="1">
              <a:lnSpc>
                <a:spcPct val="112000"/>
              </a:lnSpc>
              <a:spcAft>
                <a:spcPts val="1100"/>
              </a:spcAft>
            </a:pPr>
            <a:r>
              <a:rPr sz="1550" b="0" i="0">
                <a:solidFill>
                  <a:srgbClr val="64748B"/>
                </a:solidFill>
                <a:latin typeface="Segoe UI"/>
              </a:rPr>
              <a:t>–  git 'check=False' probes (dò base branch) hiện là warning — đã xử lý, KHÔNG phải lỗi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E293B"/>
                </a:solidFill>
                <a:latin typeface="Segoe UI"/>
              </a:rPr>
              <a:t>•  Metrics: prometheus-client tại /metrics (tasks, cost, poll items)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E293B"/>
                </a:solidFill>
                <a:latin typeface="Segoe UI"/>
              </a:rPr>
              <a:t>•  Health: /health → check ADO / Claude / disk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E293B"/>
                </a:solidFill>
                <a:latin typeface="Segoe UI"/>
              </a:rPr>
              <a:t>•  Retry: RetryPolicy (bounded retries + backoff); cạn retry → loại + báo cáo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 i="0">
                <a:solidFill>
                  <a:srgbClr val="16A34A"/>
                </a:solidFill>
                <a:latin typeface="Segoe UI"/>
              </a:rPr>
              <a:t>•  Tests: 168 unit tests (pytest, fake ADO/executor/repo, không mạng)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So với loop-engineering  ·  Loop · Goal ·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4B8A6"/>
                </a:solidFill>
                <a:latin typeface="Segoe UI"/>
              </a:rPr>
              <a:t>"loops discover, goals finish" — loop khám phá việc, goal đưa từng việc về đích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11680"/>
          <a:ext cx="1115567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2743200"/>
                <a:gridCol w="3749039"/>
              </a:tblGrid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Trục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loop-engineering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Claude Code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AI Autopilot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Loop (discover)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control loop ngoài mọi conversation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/loop dynamic, background task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Poller 30s quét WIQL — loop cấp 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Goal (finish)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goal lái 1 việc đến hoàn tất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autonomous /loop + wakeup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mỗi work item = 1 goal; result.json + state machine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Schedule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cadence + event (on-tag/post-merge)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CronCreate, ScheduleWakeup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poll + webhook + cron loops + state-sync 90s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9496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CBD5E1"/>
                </a:solidFill>
                <a:latin typeface="Segoe UI"/>
              </a:rPr>
              <a:t>→ Autopilot là hiện thân 'loop discover + goal finish' ở cấp service — sát tinh thần loop-engineering hơn cả /loop native.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B8A6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So với loop-engineering — hơn &amp; thiếu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4206240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A34A"/>
                </a:solidFill>
                <a:latin typeface="Segoe UI"/>
              </a:rPr>
              <a:t>✓ ĐI XA HƠN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•  Trọn vòng đời ticket (không dừng ở PR):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–  merge→Deploy→build xanh→Testing→parent roll-up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Cross-project scoping (code_project vs ado_project)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2 execution mode (headless + interactive lái được)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Idempotency nhiều lớp (tags + memory + DB recovery)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•  Reporting đa kênh + dashboard/board kéo-thả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42062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F4444"/>
                </a:solidFill>
                <a:latin typeface="Segoe UI"/>
              </a:rPr>
              <a:t>✗ CÒN THIẾU (thành thật)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•  'Get a score' — chưa eval/chấm điểm chất lượng PR tự động</a:t>
            </a:r>
          </a:p>
          <a:p>
            <a:pPr lvl="1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64748B"/>
                </a:solidFill>
                <a:latin typeface="Segoe UI"/>
              </a:rPr>
              <a:t>–  gap lớn nhất về triết lý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•  Circuit breaker chi phí toàn cục (chưa tự cắt khi token nổ)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•  Durable spine — _live còn in-memory, chưa 100% xuống DB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•  Comprehension debt — vẫn cần người review PR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B8A6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PR scoring — 'get a score'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7160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Stage checker của loop-engineering: mỗi run chấm 0–100 từ tín hiệu khách quan → grade + gate. Rubric thuần, test được.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25880" y="2103120"/>
          <a:ext cx="6766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438912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Thành phần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Điểm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Segoe UI"/>
                        </a:rPr>
                        <a:t>Chấm theo</a:t>
                      </a:r>
                    </a:p>
                  </a:txBody>
                  <a:tcPr marL="73152" marR="73152" marT="27432" marB="27432" anchor="ctr">
                    <a:solidFill>
                      <a:srgbClr val="14B8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delivery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hoàn tất + có PR (35) · không PR (20) · lỗi (0)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review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auto-review: −15/critical, −2/warning; unknown → 18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CI build nhánh PR: pass 20 / đỏ 0 / unknown →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có file đổi (15) − 2×thread chưa resolve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412480" y="2103120"/>
            <a:ext cx="3108960" cy="22860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2402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93B"/>
                </a:solidFill>
                <a:latin typeface="Segoe UI"/>
              </a:rPr>
              <a:t>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651760"/>
            <a:ext cx="777240" cy="38404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670048"/>
            <a:ext cx="777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670048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≥ 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218688"/>
            <a:ext cx="777240" cy="38404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236976"/>
            <a:ext cx="777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236976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Segoe UI"/>
              </a:rPr>
              <a:t>≥ 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785615"/>
            <a:ext cx="777240" cy="384048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803903"/>
            <a:ext cx="777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escalate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803903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E293B"/>
                </a:solidFill>
                <a:latin typeface="Segoe UI"/>
              </a:rPr>
              <a:t>&lt; 60 → giữ cho người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617720"/>
            <a:ext cx="10195560" cy="12344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36592"/>
            <a:ext cx="9784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366F1"/>
                </a:solidFill>
                <a:latin typeface="Segoe UI"/>
              </a:rPr>
              <a:t>Nguyên tắc thành thật: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02352"/>
            <a:ext cx="97840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Tín hiệu unknown (chưa review/CI) chấm neutral-thấp → run KHÔNG kiểm chứng được thì KHÔNG thể tự auto-merge (trần 78 → gate 'review'). Điểm + breakdown đính vào comment 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8229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6366F1"/>
                </a:solidFill>
                <a:latin typeface="Segoe U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11480"/>
            <a:ext cx="102412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E293B"/>
                </a:solidFill>
                <a:latin typeface="Segoe UI"/>
              </a:rPr>
              <a:t>Roadmap — 3 việc để 'đúng bài'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AI Autopilot — Kiến trúc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822960" cy="1097280"/>
          </a:xfrm>
          <a:prstGeom prst="roundRect">
            <a:avLst/>
          </a:prstGeom>
          <a:solidFill>
            <a:srgbClr val="14B8A6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93B"/>
                </a:solidFill>
                <a:latin typeface="Segoe UI"/>
              </a:rPr>
              <a:t>Cắm CI thật vào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350008"/>
            <a:ext cx="9418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Scoring v1 ĐÃ CÓ (slide trước); còn: kéo CI build + unresolved thread vào điểm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822960" cy="109728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93B"/>
                </a:solidFill>
                <a:latin typeface="Segoe UI"/>
              </a:rPr>
              <a:t>Circuit breaker chi phí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21608"/>
            <a:ext cx="9418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Ngưỡng token/cost toàn cục tự cắt long-run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822960" cy="1097280"/>
          </a:xfrm>
          <a:prstGeom prst="roundRect">
            <a:avLst/>
          </a:prstGeom>
          <a:solidFill>
            <a:srgbClr val="6366F1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17720"/>
            <a:ext cx="9418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E293B"/>
                </a:solidFill>
                <a:latin typeface="Segoe UI"/>
              </a:rPr>
              <a:t>Durable in-flight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093208"/>
            <a:ext cx="9418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4748B"/>
                </a:solidFill>
                <a:latin typeface="Segoe UI"/>
              </a:rPr>
              <a:t>Đưa _live (session interactive) xuống DB làm single source of truth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Tóm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10607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BD5E1"/>
                </a:solidFill>
                <a:latin typeface="Segoe UI"/>
              </a:rPr>
              <a:t>Một hiện thực hóa production của loop-engineering, chuyên biệt cho Azure DevOps —
và vượt ra ngoài framework ở vòng đời sau-merge, cross-project, dual-mode, DB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12064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Tech: Python 3.11 · FastAPI · Claude Agent SDK + Claude Code · SQLAlchemy async · httpx · structlog · Prometheus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