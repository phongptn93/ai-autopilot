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Chào mọi người, hôm nay mình giới thiệu một 'kỹ sư AI' tự nhận việc trên Azure DevOps và tạo Pull Request — luôn dưới sự kiểm soát của con người.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Đi nhanh qua agenda ~10 giây, nhấn rằng phần DEMO là trọng tâm.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Đặt vấn đề gần gũi. Nhấn 'phần cơ bản' — không thay thế, mà giải phóng thời gian.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Thông điệp cốt lõi của cả buổi. Lặp lại 'con người kiểm soát' để tránh lo ngại.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Dùng sơ đồ mũi tên ngang nếu vẽ được. Nhấn bước 3 (cô lập) và bước 5 (biết dừng khi không chắc).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Với management: đi nhanh. Với kỹ sư: đây là chỗ trả lời 'nó gồm gì'.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Điểm nhấn của buổi. Nói ít, cho xem nhiều. Nếu live rủi ro → chạy clip đã quay sẵn.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Chọn 2–3 điểm khán giả quan tâm nhất mà nhấn, đừng đọc hết.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trấn an. Rất quan trọng với management và security. Nói chậm, rõ.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Nếu chưa có số liệu, nói thẳng 'đang đo' — trung thực tạo uy tín hơn phóng đại.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Kêu gọi hành động: xin 1–2 team pilot, xin loại task cụ thể để bắt đầu.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Kết bằng lời mời pilot cụ thể, để lại contact.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371600" cy="100584"/>
          </a:xfrm>
          <a:prstGeom prst="rect">
            <a:avLst/>
          </a:prstGeom>
          <a:solidFill>
            <a:srgbClr val="818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EAEAF0"/>
                </a:solidFill>
                <a:latin typeface="Segoe UI"/>
              </a:rPr>
              <a:t>AI Autopilot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6118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818CF6"/>
                </a:solidFill>
                <a:latin typeface="Segoe UI"/>
              </a:rPr>
              <a:t>Từ Work Item đến Pull Request, tự động — con người vẫn kiểm soát.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3949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AEAF0"/>
                </a:solidFill>
                <a:latin typeface="Segoe UI"/>
              </a:rPr>
              <a:t>Phong Pham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898A6"/>
                </a:solidFill>
                <a:latin typeface="Segoe UI"/>
              </a:rPr>
              <a:t>[Tên công ty / Team]  ·  [Ngày]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82296" cy="566928"/>
          </a:xfrm>
          <a:prstGeom prst="rect">
            <a:avLst/>
          </a:prstGeom>
          <a:solidFill>
            <a:srgbClr val="818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18CF6"/>
                </a:solidFill>
                <a:latin typeface="Segoe UI"/>
              </a:rPr>
              <a:t>AGENDA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AEAF0"/>
                </a:solidFill>
                <a:latin typeface="Segoe UI"/>
              </a:rPr>
              <a:t>Nội dung buổi giới thiệu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6070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Vấn đề — chúng ta mất thời gian ở đâu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AI Autopilot là gì &amp; cách hoạt động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Kiến trúc tổng quan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DEMO trực tiếp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Điểm mạnh nổi bật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Kiểm soát &amp; An toàn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Kết quả kỳ vọng &amp; Lộ trình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898A6"/>
                </a:solidFill>
                <a:latin typeface="Segoe UI"/>
              </a:rPr>
              <a:t>AI Autopilot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898A6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82296" cy="566928"/>
          </a:xfrm>
          <a:prstGeom prst="rect">
            <a:avLst/>
          </a:prstGeom>
          <a:solidFill>
            <a:srgbClr val="818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18CF6"/>
                </a:solidFill>
                <a:latin typeface="Segoe UI"/>
              </a:rPr>
              <a:t>VẤN ĐỀ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AEAF0"/>
                </a:solidFill>
                <a:latin typeface="Segoe UI"/>
              </a:rPr>
              <a:t>Chúng ta đang mất thời gian ở đâu?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6070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Nhiều task nhỏ, lặp lại: sửa bug đơn giản, CRUD, config, chỉnh UI…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Kỹ sư giỏi bị 'kẹt' vào việc cơ bản → chậm việc quan trọng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Task nằm chờ trong backlog, phản hồi chậm cho stakeholder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0">
                <a:solidFill>
                  <a:srgbClr val="9898A6"/>
                </a:solidFill>
                <a:latin typeface="Segoe UI"/>
              </a:rPr>
              <a:t>      – </a:t>
            </a:r>
            <a:r>
              <a:rPr sz="1450" b="0">
                <a:solidFill>
                  <a:srgbClr val="9898A6"/>
                </a:solidFill>
                <a:latin typeface="Segoe UI"/>
              </a:rPr>
              <a:t>Nếu có một 'kỹ sư ảo' nhận việc 24/7, làm phần cơ bản — thì sao?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898A6"/>
                </a:solidFill>
                <a:latin typeface="Segoe UI"/>
              </a:rPr>
              <a:t>AI Autopilot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898A6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82296" cy="566928"/>
          </a:xfrm>
          <a:prstGeom prst="rect">
            <a:avLst/>
          </a:prstGeom>
          <a:solidFill>
            <a:srgbClr val="818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18CF6"/>
                </a:solidFill>
                <a:latin typeface="Segoe UI"/>
              </a:rPr>
              <a:t>AI AUTOPILOT LÀ GÌ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AEAF0"/>
                </a:solidFill>
                <a:latin typeface="Segoe UI"/>
              </a:rPr>
              <a:t>Một trợ lý kỹ thuật tự động, có giám sát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6070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Vòng đời 1 câu:  Gắn tag → Autopilot nhận → Claude phân tích &amp; code → mở PR → bạn review &amp; merge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Tích hợp thẳng Azure DevOps (work item + repo + Pull Request)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Chạy bằng Claude (Anthropic) — mô hình mạnh nhất hiện nay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Con người luôn ở giữa vòng lặp (human-in-the-loop)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898A6"/>
                </a:solidFill>
                <a:latin typeface="Segoe UI"/>
              </a:rPr>
              <a:t>AI Autopilot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898A6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82296" cy="566928"/>
          </a:xfrm>
          <a:prstGeom prst="rect">
            <a:avLst/>
          </a:prstGeom>
          <a:solidFill>
            <a:srgbClr val="818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18CF6"/>
                </a:solidFill>
                <a:latin typeface="Segoe UI"/>
              </a:rPr>
              <a:t>CÁCH HOẠT ĐỘNG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AEAF0"/>
                </a:solidFill>
                <a:latin typeface="Segoe UI"/>
              </a:rPr>
              <a:t>Từ tag đến PR — 5 bước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6070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Poll — quét ADO tìm work item gắn tag trigger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Phân loại &amp; ưu tiên — BE / FE / Bug / DB… + độ ưu tiên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Thực thi — Claude làm việc trong worktree cô lập (không đụng code chính)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Cập nhật trạng thái — tự chuyển state theo từng giai đoạn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Kết quả — tạo Pull Request, hoặc báo 'cần người' nếu mơ hồ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898A6"/>
                </a:solidFill>
                <a:latin typeface="Segoe UI"/>
              </a:rPr>
              <a:t>AI Autopilot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898A6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82296" cy="566928"/>
          </a:xfrm>
          <a:prstGeom prst="rect">
            <a:avLst/>
          </a:prstGeom>
          <a:solidFill>
            <a:srgbClr val="818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18CF6"/>
                </a:solidFill>
                <a:latin typeface="Segoe UI"/>
              </a:rPr>
              <a:t>KIẾN TRÚC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AEAF0"/>
                </a:solidFill>
                <a:latin typeface="Segoe UI"/>
              </a:rPr>
              <a:t>Các thành phần chính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6070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Poller — nhịp tim: quét &amp; điều phối task (retry, lịch chạy, RBAC)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Executor — chạy Claude, quản lý git / worktree, tạo PR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Dashboard — Board realtime, Overview, Settings, activity feed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ADO Client / Notifier — đọc/ghi work item, comment, state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Notifications — Teams / Email / Zalo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0">
                <a:solidFill>
                  <a:srgbClr val="9898A6"/>
                </a:solidFill>
                <a:latin typeface="Segoe UI"/>
              </a:rPr>
              <a:t>      – </a:t>
            </a:r>
            <a:r>
              <a:rPr sz="1450" b="0">
                <a:solidFill>
                  <a:srgbClr val="9898A6"/>
                </a:solidFill>
                <a:latin typeface="Segoe UI"/>
              </a:rPr>
              <a:t>Chạy được cả headless (tự động hoàn toàn) và interactive (bạn attach vào steer)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898A6"/>
                </a:solidFill>
                <a:latin typeface="Segoe UI"/>
              </a:rPr>
              <a:t>AI Autopilot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898A6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1371600" cy="100584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0515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EAEAF0"/>
                </a:solidFill>
                <a:latin typeface="Segoe UI"/>
              </a:rPr>
              <a:t>🔴  DEMO TRỰC TIẾP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E5484D"/>
                </a:solidFill>
                <a:latin typeface="Segoe UI"/>
              </a:rPr>
              <a:t>Xem nó chạy thật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104241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1">
                <a:solidFill>
                  <a:srgbClr val="E5484D"/>
                </a:solidFill>
                <a:latin typeface="Segoe UI"/>
              </a:rPr>
              <a:t>1.  </a:t>
            </a:r>
            <a:r>
              <a:rPr sz="1800" b="0">
                <a:solidFill>
                  <a:srgbClr val="EAEAF0"/>
                </a:solidFill>
                <a:latin typeface="Segoe UI"/>
              </a:rPr>
              <a:t>Tạo/chọn 1 work item → gắn tag </a:t>
            </a:r>
            <a:r>
              <a:rPr sz="1800" b="1">
                <a:solidFill>
                  <a:srgbClr val="818CF6"/>
                </a:solidFill>
                <a:latin typeface="Segoe UI"/>
              </a:rPr>
              <a:t>autopilot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1">
                <a:solidFill>
                  <a:srgbClr val="E5484D"/>
                </a:solidFill>
                <a:latin typeface="Segoe UI"/>
              </a:rPr>
              <a:t>2.  </a:t>
            </a:r>
            <a:r>
              <a:rPr sz="1800" b="0">
                <a:solidFill>
                  <a:srgbClr val="EAEAF0"/>
                </a:solidFill>
                <a:latin typeface="Segoe UI"/>
              </a:rPr>
              <a:t>Dashboard → Board: card di chuyển realtime qua các cột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1">
                <a:solidFill>
                  <a:srgbClr val="E5484D"/>
                </a:solidFill>
                <a:latin typeface="Segoe UI"/>
              </a:rPr>
              <a:t>3.  </a:t>
            </a:r>
            <a:r>
              <a:rPr sz="1800" b="0">
                <a:solidFill>
                  <a:srgbClr val="EAEAF0"/>
                </a:solidFill>
                <a:latin typeface="Segoe UI"/>
              </a:rPr>
              <a:t>Activity feed: xem agent suy nghĩ &amp; thao tác live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1">
                <a:solidFill>
                  <a:srgbClr val="E5484D"/>
                </a:solidFill>
                <a:latin typeface="Segoe UI"/>
              </a:rPr>
              <a:t>4.  </a:t>
            </a:r>
            <a:r>
              <a:rPr sz="1800" b="0">
                <a:solidFill>
                  <a:srgbClr val="EAEAF0"/>
                </a:solidFill>
                <a:latin typeface="Segoe UI"/>
              </a:rPr>
              <a:t>Kết quả: Pull Request được tạo + state ADO tự chuyển 'In review'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898A6"/>
                </a:solidFill>
                <a:latin typeface="Segoe UI"/>
              </a:rPr>
              <a:t>💡 Chuẩn bị sẵn 1 task chạy nhanh + video/GIF backup phòng lỗi mạng.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55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898A6"/>
                </a:solidFill>
                <a:latin typeface="Segoe UI"/>
              </a:rPr>
              <a:t>AI Autopilot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35508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898A6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82296" cy="566928"/>
          </a:xfrm>
          <a:prstGeom prst="rect">
            <a:avLst/>
          </a:prstGeom>
          <a:solidFill>
            <a:srgbClr val="818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18CF6"/>
                </a:solidFill>
                <a:latin typeface="Segoe UI"/>
              </a:rPr>
              <a:t>ĐIỂM MẠNH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AEAF0"/>
                </a:solidFill>
                <a:latin typeface="Segoe UI"/>
              </a:rPr>
              <a:t>Vì sao đáng dùng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6070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🔒 Cô lập theo task (git worktree) — nhiều task song song, không đụng checkout chính của bạn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🎛 Cấu hình theo board — chọn trigger state / tag / state từng giai đoạn ngay trên UI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🏷 Nhiều luồng (tag) — mỗi team/máy một stream riêng, lọc trên Board/Overview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📤 Export/Import cấu hình — nhân rộng cho cả team trong 1 phút (không kèm mật khẩu)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🎚 3 mức tự chủ — Report / Assisted (draft PR) / Unattended (auto PR)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898A6"/>
                </a:solidFill>
                <a:latin typeface="Segoe UI"/>
              </a:rPr>
              <a:t>AI Autopilot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898A6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82296" cy="56692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2C55E"/>
                </a:solidFill>
                <a:latin typeface="Segoe UI"/>
              </a:rPr>
              <a:t>KIỂM SOÁT &amp; AN TOÀN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AEAF0"/>
                </a:solidFill>
                <a:latin typeface="Segoe UI"/>
              </a:rPr>
              <a:t>AI hỗ trợ, không thay quyết định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6070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22C55E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✅ Draft PR — luôn chờ người review trước khi merge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22C55E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🙋 Tự escalate — mơ hồ/thiếu thông tin thì dừng và gắn 'cần người', không đoán bừa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22C55E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🔍 Auto security review trước khi mở PR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22C55E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🚫 Không tự merge, không xoá dữ liệu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22C55E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🧪 Dry-run — chạy thử, chỉ log, không ghi gì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22C55E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👤 RBAC — chỉ xử lý việc từ người được phép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898A6"/>
                </a:solidFill>
                <a:latin typeface="Segoe UI"/>
              </a:rPr>
              <a:t>AI Autopilot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898A6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82296" cy="566928"/>
          </a:xfrm>
          <a:prstGeom prst="rect">
            <a:avLst/>
          </a:prstGeom>
          <a:solidFill>
            <a:srgbClr val="818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18CF6"/>
                </a:solidFill>
                <a:latin typeface="Segoe UI"/>
              </a:rPr>
              <a:t>KẾT QUẢ KỲ VỌNG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AEAF0"/>
                </a:solidFill>
                <a:latin typeface="Segoe UI"/>
              </a:rPr>
              <a:t>Giá trị mang lại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6070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⏱ Rút ngắn thời gian cho task nhỏ / lặp lại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🚀 Phản hồi nhanh hơn cho backlog &amp; stakeholder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🧠 Giải phóng kỹ sư giỏi cho việc phức tạp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📈 Chuẩn hoá quy trình (branch, PR, review) tự động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0">
                <a:solidFill>
                  <a:srgbClr val="9898A6"/>
                </a:solidFill>
                <a:latin typeface="Segoe UI"/>
              </a:rPr>
              <a:t>      – </a:t>
            </a:r>
            <a:r>
              <a:rPr sz="1450" b="0">
                <a:solidFill>
                  <a:srgbClr val="9898A6"/>
                </a:solidFill>
                <a:latin typeface="Segoe UI"/>
              </a:rPr>
              <a:t>Điền số liệu thật nếu có: thời gian TB/task, số PR đã tạo, tỉ lệ cần người.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898A6"/>
                </a:solidFill>
                <a:latin typeface="Segoe UI"/>
              </a:rPr>
              <a:t>AI Autopilot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898A6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82296" cy="566928"/>
          </a:xfrm>
          <a:prstGeom prst="rect">
            <a:avLst/>
          </a:prstGeom>
          <a:solidFill>
            <a:srgbClr val="818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18CF6"/>
                </a:solidFill>
                <a:latin typeface="Segoe UI"/>
              </a:rPr>
              <a:t>LỘ TRÌNH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AEAF0"/>
                </a:solidFill>
                <a:latin typeface="Segoe UI"/>
              </a:rPr>
              <a:t>Tiếp theo là gì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6070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Ngắn hạn — chạy thử thực tế trên vài task / loại việc chọn lọc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Trung hạn — mở rộng loại task, nhiều team/tag, tinh chỉnh chất lượng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Dài hạn — tối ưu chi phí, đo lường hiệu quả, tích hợp sâu quy trình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898A6"/>
                </a:solidFill>
                <a:latin typeface="Segoe UI"/>
              </a:rPr>
              <a:t>AI Autopilot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898A6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82296" cy="566928"/>
          </a:xfrm>
          <a:prstGeom prst="rect">
            <a:avLst/>
          </a:prstGeom>
          <a:solidFill>
            <a:srgbClr val="818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818CF6"/>
                </a:solidFill>
                <a:latin typeface="Segoe UI"/>
              </a:rPr>
              <a:t>Q&amp;A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EAEAF0"/>
                </a:solidFill>
                <a:latin typeface="Segoe UI"/>
              </a:rPr>
              <a:t>Câu hỏi &amp; Thảo luận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6070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Nếu AI làm sai thì sao?  → Draft PR + review + auto security; không tự merge.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Dữ liệu/PAT bảo mật thế nào?  → Token không bao giờ export; chạy nội bộ.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Chạy được bao nhiêu task cùng lúc?  → Cấu hình được; mỗi task cô lập worktree.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818CF6"/>
                </a:solidFill>
                <a:latin typeface="Segoe UI"/>
              </a:rPr>
              <a:t>●  </a:t>
            </a:r>
            <a:r>
              <a:rPr sz="1700" b="0">
                <a:solidFill>
                  <a:srgbClr val="EAEAF0"/>
                </a:solidFill>
                <a:latin typeface="Segoe UI"/>
              </a:rPr>
              <a:t>Áp dụng loại task nào trước?  → Bắt đầu từ task nhỏ, rõ acceptance criteria.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300" b="0">
                <a:solidFill>
                  <a:srgbClr val="9898A6"/>
                </a:solidFill>
                <a:latin typeface="Segoe UI"/>
              </a:rPr>
              <a:t>      – </a:t>
            </a:r>
            <a:r>
              <a:rPr sz="1450" b="0">
                <a:solidFill>
                  <a:srgbClr val="9898A6"/>
                </a:solidFill>
                <a:latin typeface="Segoe UI"/>
              </a:rPr>
              <a:t>Cảm ơn!  —  Phong Pham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55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898A6"/>
                </a:solidFill>
                <a:latin typeface="Segoe UI"/>
              </a:rPr>
              <a:t>AI Autopilot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5508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898A6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